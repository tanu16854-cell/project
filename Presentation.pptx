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660"/>
  </p:normalViewPr>
  <p:slideViewPr>
    <p:cSldViewPr snapToGrid="0">
      <p:cViewPr varScale="1">
        <p:scale>
          <a:sx n="58" d="100"/>
          <a:sy n="58" d="100"/>
        </p:scale>
        <p:origin x="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7BCB80EC-D027-6683-D23D-AA3A6E771ADC}"/>
              </a:ext>
            </a:extLst>
          </p:cNvPr>
          <p:cNvSpPr>
            <a:spLocks/>
          </p:cNvSpPr>
          <p:nvPr/>
        </p:nvSpPr>
        <p:spPr bwMode="auto">
          <a:xfrm>
            <a:off x="0" y="4324350"/>
            <a:ext cx="1744663" cy="777875"/>
          </a:xfrm>
          <a:custGeom>
            <a:avLst/>
            <a:gdLst>
              <a:gd name="T0" fmla="*/ 287 w 372"/>
              <a:gd name="T1" fmla="*/ 166 h 166"/>
              <a:gd name="T2" fmla="*/ 293 w 372"/>
              <a:gd name="T3" fmla="*/ 164 h 166"/>
              <a:gd name="T4" fmla="*/ 294 w 372"/>
              <a:gd name="T5" fmla="*/ 163 h 166"/>
              <a:gd name="T6" fmla="*/ 370 w 372"/>
              <a:gd name="T7" fmla="*/ 87 h 166"/>
              <a:gd name="T8" fmla="*/ 370 w 372"/>
              <a:gd name="T9" fmla="*/ 78 h 166"/>
              <a:gd name="T10" fmla="*/ 294 w 372"/>
              <a:gd name="T11" fmla="*/ 3 h 166"/>
              <a:gd name="T12" fmla="*/ 293 w 372"/>
              <a:gd name="T13" fmla="*/ 2 h 166"/>
              <a:gd name="T14" fmla="*/ 287 w 372"/>
              <a:gd name="T15" fmla="*/ 0 h 166"/>
              <a:gd name="T16" fmla="*/ 0 w 372"/>
              <a:gd name="T17" fmla="*/ 0 h 166"/>
              <a:gd name="T18" fmla="*/ 0 w 372"/>
              <a:gd name="T19" fmla="*/ 166 h 166"/>
              <a:gd name="T20" fmla="*/ 287 w 372"/>
              <a:gd name="T21" fmla="*/ 166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F6A2EB9-8350-F40B-DED0-ADA05AFF8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25192-0392-4DEB-A889-61CAD4881130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3B1ED9B-307F-0C21-9C5A-EC32E22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AA6A9B6-8278-9F00-BBE0-0336E581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4529138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F2749-1950-422F-B6D5-066603EFA0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16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13CCD129-0905-35B2-3223-BD531BA09F0D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352E89F-F457-EC21-8B9C-B371FC98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C7459-8D1C-4884-8295-C50265FB549A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07DFE77-B66C-4130-CCC0-F60CB4904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B1FCE6A-33A5-2889-EA63-AF4D29D2C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FD558-0D2C-4B8C-8373-4B20A7C8DC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8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8EAF05C2-71A8-FD6C-4DE7-5F5383C20809}"/>
              </a:ext>
            </a:extLst>
          </p:cNvPr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D596954-B16B-2AA3-3CFE-F2EA67054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E23B3-0892-4027-A7EF-79A899355B72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4941D1B-26AC-2C13-FE1B-D752641DD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73FABF-E9A5-DEF1-2E1A-33A3FA146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87C21-BE90-432C-B2DA-37C7EEA7C7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50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83F4C921-5370-0758-A3E4-7446867ED740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E4495-C5E3-E62C-28ED-7E31E8463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588DC-D284-4C4D-A789-B9171C343588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52623-C8F5-71CD-8DB8-193431D1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68CAE84-FF5B-BE13-C5FC-3B3B3F331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F16D5A-87C4-4240-89F5-FA71ED4A95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486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0C6D9102-4C35-CF52-04EF-4C3E5CFD24D1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B71A15-E730-FF13-2DE7-4E24EC57C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49845-A388-451F-A6F4-B57109F54DA0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E0FDB-DF19-B8C7-DED9-61E93E9E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D639FA-4FE3-6941-03F2-1282623D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B401C-8C4B-40EA-8A08-94063DD59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6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DDF9F4DE-3B44-FB37-1653-CA6855B16DC5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657971C5-77FC-77EC-43F7-7269665F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96FDD9-37F3-44F0-AA56-8677C16A8F3F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79BF3A4-93A1-229E-0368-752C3AFE0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22ABA66-F6D4-F01A-B869-DF9D4535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0F887-788A-4848-BDBD-9655E59A1C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30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79D32DF0-9A5F-69F2-F82B-6F7A10543200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E42273C-9E5B-A748-B86A-90A457BF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9AB83-DEBC-4FD4-9AB6-73233FC28687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D003E50-8F86-56AC-1CE8-FC66A873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EA9540-6555-4BDC-3C3E-0170E2ED2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1101E7-9618-4A62-9F66-83890F827C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05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95E1118C-8968-7C24-34A0-5867F2249981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DDC750-0506-171A-6F27-8A117A29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CC8124-5478-410E-8FE5-D3A9AB17B7C6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7226104E-45FE-527D-3B45-628BDB0EB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B51C0B6-32B5-A061-2B74-A3B712A9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E82AA-1E93-463E-A845-21B5CF7231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8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AFD11EA2-3E3A-55EA-A761-80AD5D9C05A6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1CB5194-8927-7870-8C43-72FDB88EB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9A4B2-5F7A-4DF7-A0E3-AD5633F4ABE8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D61A428-45CA-0C1D-5A46-5E7A2D367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FF990A4-DAAA-7335-BC8B-71E90933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A8527-4765-43B0-90E8-754E451967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422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9F5B6ACC-EE83-2D46-567E-5587341125AF}"/>
              </a:ext>
            </a:extLst>
          </p:cNvPr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EDF0DB-DBEF-8B16-43F6-E765F3BC8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60B4EF-C724-4CE3-9A82-29555E9A08D1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0511CB0-6016-9A25-06B7-BDE64F4A5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400F120-A35A-1B9E-80AE-7D88E8D2D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EE47F9-59D7-4D18-871C-0A88310BE3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7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95B988BE-6DA4-4667-6A79-9EA650D57C72}"/>
              </a:ext>
            </a:extLst>
          </p:cNvPr>
          <p:cNvSpPr>
            <a:spLocks/>
          </p:cNvSpPr>
          <p:nvPr/>
        </p:nvSpPr>
        <p:spPr bwMode="auto">
          <a:xfrm flipV="1">
            <a:off x="-4763" y="31781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BDCD63A-2565-6A84-6F45-242609767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199C6369-45E6-FBB7-A097-5B39AACD7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83C86B3-7442-9864-D493-67455C905A9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CDE458-6E0C-42B5-B0B9-6DBF0D27E7F7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91926D8-DF57-66FD-6D90-07C745994A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0F5D09-0F7F-1672-8A8C-F8225941CDC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1813" y="3244850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CED61-569B-4286-8815-DAF4D0AB78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33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14391B3D-03E9-8B72-0EB0-DC9AD919F23D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14595-27AE-7099-5710-865190E87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67E2DD-5500-4C2C-97D9-5B1D82B33A72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7F94C-780F-4622-D0BB-D326D96D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57673-3965-329E-4582-3A40F365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47A0F0-FB95-47A6-81BF-FD16847933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530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529E275B-C6A3-AC16-9C89-DB012AD51887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06B2BD0D-36CF-553F-3D53-63A06F9F5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6975" y="647700"/>
            <a:ext cx="6096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4626910E-F561-1E86-9817-7BD8A804C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4088" y="2905125"/>
            <a:ext cx="609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BA7E513C-505B-BF97-EC1E-A0C05D7922E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41444-5E99-4B8B-B4CD-46746FC0438B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482B929B-7761-1554-5F4B-0E0905F994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4005F63-F07B-63EE-09EB-3DE3D25CD6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7E632D-A09C-4302-9D8B-66D8BEAD75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709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937BFA74-B670-2B1A-D9A3-A4478FE89CAC}"/>
              </a:ext>
            </a:extLst>
          </p:cNvPr>
          <p:cNvSpPr>
            <a:spLocks/>
          </p:cNvSpPr>
          <p:nvPr/>
        </p:nvSpPr>
        <p:spPr bwMode="auto">
          <a:xfrm flipV="1">
            <a:off x="-4763" y="491172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FAB3C-AEAE-9F63-3467-ADF996B2BE3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B12421-7C39-41D8-8B91-75DBD4401F47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5A7EF-0D8C-5204-73DC-034B38B35D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280EA-AC65-22CA-07A8-EBF141802A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31813" y="4983163"/>
            <a:ext cx="7794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29179-8C52-476E-AA3E-C4BA210026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18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2D8B67DE-74D5-432B-85CF-1A2303EE00D5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3061DC8-62F7-B3E5-9BBE-4B3F1B4F4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707A3-8A31-418D-84F9-BF3B80CAB06D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D8A39D3-2E87-A3D5-619C-3C80ADA6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B70DBB-1770-802E-6E76-E04E2048B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DF6ED7-9D2D-4ED2-B3D2-17D020267B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6672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6B2BE963-3342-BB39-67E0-C51A4CBE6F30}"/>
              </a:ext>
            </a:extLst>
          </p:cNvPr>
          <p:cNvSpPr>
            <a:spLocks/>
          </p:cNvSpPr>
          <p:nvPr/>
        </p:nvSpPr>
        <p:spPr bwMode="auto">
          <a:xfrm flipV="1">
            <a:off x="-4763" y="714375"/>
            <a:ext cx="1589088" cy="508000"/>
          </a:xfrm>
          <a:custGeom>
            <a:avLst/>
            <a:gdLst>
              <a:gd name="T0" fmla="*/ 9248 w 9248"/>
              <a:gd name="T1" fmla="*/ 4701 h 10000"/>
              <a:gd name="T2" fmla="*/ 7915 w 9248"/>
              <a:gd name="T3" fmla="*/ 188 h 10000"/>
              <a:gd name="T4" fmla="*/ 7886 w 9248"/>
              <a:gd name="T5" fmla="*/ 94 h 10000"/>
              <a:gd name="T6" fmla="*/ 7803 w 9248"/>
              <a:gd name="T7" fmla="*/ 0 h 10000"/>
              <a:gd name="T8" fmla="*/ 7275 w 9248"/>
              <a:gd name="T9" fmla="*/ 0 h 10000"/>
              <a:gd name="T10" fmla="*/ 0 w 9248"/>
              <a:gd name="T11" fmla="*/ 70 h 10000"/>
              <a:gd name="T12" fmla="*/ 25 w 9248"/>
              <a:gd name="T13" fmla="*/ 10000 h 10000"/>
              <a:gd name="T14" fmla="*/ 7275 w 9248"/>
              <a:gd name="T15" fmla="*/ 9966 h 10000"/>
              <a:gd name="T16" fmla="*/ 7803 w 9248"/>
              <a:gd name="T17" fmla="*/ 9966 h 10000"/>
              <a:gd name="T18" fmla="*/ 7886 w 9248"/>
              <a:gd name="T19" fmla="*/ 9872 h 10000"/>
              <a:gd name="T20" fmla="*/ 7915 w 9248"/>
              <a:gd name="T21" fmla="*/ 9778 h 10000"/>
              <a:gd name="T22" fmla="*/ 9248 w 9248"/>
              <a:gd name="T23" fmla="*/ 5265 h 10000"/>
              <a:gd name="T24" fmla="*/ 9248 w 9248"/>
              <a:gd name="T25" fmla="*/ 4701 h 1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BEB2A-20C1-F036-C0FF-3A4923FFE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ACDCA-072E-4AE3-B647-006692F5686F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6CFA126-3681-0192-DE4D-A9B4F7AF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54B441-7284-8E79-B64B-3185BDBF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C86C1-F1E6-4CF0-9372-F0BA821C67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1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2">
            <a:extLst>
              <a:ext uri="{FF2B5EF4-FFF2-40B4-BE49-F238E27FC236}">
                <a16:creationId xmlns:a16="http://schemas.microsoft.com/office/drawing/2014/main" id="{E724E55B-92D9-B0BE-5D9A-1B15B8C19A9B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2851150" cy="6638925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E09ED1D0-E5D9-FE51-73E2-635319A55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2 w 22"/>
                <a:gd name="T1" fmla="*/ 136 h 136"/>
                <a:gd name="T2" fmla="*/ 17 w 22"/>
                <a:gd name="T3" fmla="*/ 80 h 136"/>
                <a:gd name="T4" fmla="*/ 0 w 22"/>
                <a:gd name="T5" fmla="*/ 0 h 136"/>
                <a:gd name="T6" fmla="*/ 0 w 22"/>
                <a:gd name="T7" fmla="*/ 35 h 136"/>
                <a:gd name="T8" fmla="*/ 20 w 22"/>
                <a:gd name="T9" fmla="*/ 124 h 136"/>
                <a:gd name="T10" fmla="*/ 22 w 22"/>
                <a:gd name="T11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CF6BB558-4D75-08F6-9E26-B1AFFB3BA1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86 w 140"/>
                <a:gd name="T1" fmla="*/ 350 h 504"/>
                <a:gd name="T2" fmla="*/ 139 w 140"/>
                <a:gd name="T3" fmla="*/ 504 h 504"/>
                <a:gd name="T4" fmla="*/ 140 w 140"/>
                <a:gd name="T5" fmla="*/ 478 h 504"/>
                <a:gd name="T6" fmla="*/ 95 w 140"/>
                <a:gd name="T7" fmla="*/ 347 h 504"/>
                <a:gd name="T8" fmla="*/ 0 w 140"/>
                <a:gd name="T9" fmla="*/ 0 h 504"/>
                <a:gd name="T10" fmla="*/ 6 w 140"/>
                <a:gd name="T11" fmla="*/ 61 h 504"/>
                <a:gd name="T12" fmla="*/ 86 w 140"/>
                <a:gd name="T13" fmla="*/ 35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BC57208A-C76B-8F6A-782F-8798003878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8 w 132"/>
                <a:gd name="T1" fmla="*/ 22 h 308"/>
                <a:gd name="T2" fmla="*/ 0 w 132"/>
                <a:gd name="T3" fmla="*/ 0 h 308"/>
                <a:gd name="T4" fmla="*/ 0 w 132"/>
                <a:gd name="T5" fmla="*/ 29 h 308"/>
                <a:gd name="T6" fmla="*/ 68 w 132"/>
                <a:gd name="T7" fmla="*/ 194 h 308"/>
                <a:gd name="T8" fmla="*/ 123 w 132"/>
                <a:gd name="T9" fmla="*/ 308 h 308"/>
                <a:gd name="T10" fmla="*/ 132 w 132"/>
                <a:gd name="T11" fmla="*/ 308 h 308"/>
                <a:gd name="T12" fmla="*/ 77 w 132"/>
                <a:gd name="T13" fmla="*/ 190 h 308"/>
                <a:gd name="T14" fmla="*/ 8 w 132"/>
                <a:gd name="T15" fmla="*/ 22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2B9C7FDD-950D-C5A9-D327-4FBD81893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8 w 37"/>
                <a:gd name="T1" fmla="*/ 79 h 79"/>
                <a:gd name="T2" fmla="*/ 37 w 37"/>
                <a:gd name="T3" fmla="*/ 79 h 79"/>
                <a:gd name="T4" fmla="*/ 0 w 37"/>
                <a:gd name="T5" fmla="*/ 0 h 79"/>
                <a:gd name="T6" fmla="*/ 28 w 37"/>
                <a:gd name="T7" fmla="*/ 79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5E09543C-2810-0716-6862-D61C56422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162 w 178"/>
                <a:gd name="T1" fmla="*/ 660 h 722"/>
                <a:gd name="T2" fmla="*/ 116 w 178"/>
                <a:gd name="T3" fmla="*/ 534 h 722"/>
                <a:gd name="T4" fmla="*/ 40 w 178"/>
                <a:gd name="T5" fmla="*/ 236 h 722"/>
                <a:gd name="T6" fmla="*/ 12 w 178"/>
                <a:gd name="T7" fmla="*/ 51 h 722"/>
                <a:gd name="T8" fmla="*/ 0 w 178"/>
                <a:gd name="T9" fmla="*/ 0 h 722"/>
                <a:gd name="T10" fmla="*/ 33 w 178"/>
                <a:gd name="T11" fmla="*/ 237 h 722"/>
                <a:gd name="T12" fmla="*/ 107 w 178"/>
                <a:gd name="T13" fmla="*/ 537 h 722"/>
                <a:gd name="T14" fmla="*/ 160 w 178"/>
                <a:gd name="T15" fmla="*/ 681 h 722"/>
                <a:gd name="T16" fmla="*/ 178 w 178"/>
                <a:gd name="T17" fmla="*/ 722 h 722"/>
                <a:gd name="T18" fmla="*/ 174 w 178"/>
                <a:gd name="T19" fmla="*/ 708 h 722"/>
                <a:gd name="T20" fmla="*/ 162 w 178"/>
                <a:gd name="T21" fmla="*/ 660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3FA14400-F63B-A21C-40C1-6ED862B38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11 w 23"/>
                <a:gd name="T1" fmla="*/ 577 h 635"/>
                <a:gd name="T2" fmla="*/ 12 w 23"/>
                <a:gd name="T3" fmla="*/ 589 h 635"/>
                <a:gd name="T4" fmla="*/ 22 w 23"/>
                <a:gd name="T5" fmla="*/ 632 h 635"/>
                <a:gd name="T6" fmla="*/ 23 w 23"/>
                <a:gd name="T7" fmla="*/ 635 h 635"/>
                <a:gd name="T8" fmla="*/ 17 w 23"/>
                <a:gd name="T9" fmla="*/ 576 h 635"/>
                <a:gd name="T10" fmla="*/ 5 w 23"/>
                <a:gd name="T11" fmla="*/ 269 h 635"/>
                <a:gd name="T12" fmla="*/ 15 w 23"/>
                <a:gd name="T13" fmla="*/ 0 h 635"/>
                <a:gd name="T14" fmla="*/ 12 w 23"/>
                <a:gd name="T15" fmla="*/ 0 h 635"/>
                <a:gd name="T16" fmla="*/ 1 w 23"/>
                <a:gd name="T17" fmla="*/ 269 h 635"/>
                <a:gd name="T18" fmla="*/ 11 w 23"/>
                <a:gd name="T19" fmla="*/ 577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E7E4A9EC-F4CC-9AB8-3D9A-6F2A1842E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5 w 17"/>
                <a:gd name="T3" fmla="*/ 56 h 107"/>
                <a:gd name="T4" fmla="*/ 17 w 17"/>
                <a:gd name="T5" fmla="*/ 107 h 107"/>
                <a:gd name="T6" fmla="*/ 11 w 17"/>
                <a:gd name="T7" fmla="*/ 46 h 107"/>
                <a:gd name="T8" fmla="*/ 10 w 17"/>
                <a:gd name="T9" fmla="*/ 43 h 107"/>
                <a:gd name="T10" fmla="*/ 0 w 17"/>
                <a:gd name="T11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C6543BFD-993B-4BC3-D36E-5007D7D8B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5 w 41"/>
                <a:gd name="T3" fmla="*/ 93 h 222"/>
                <a:gd name="T4" fmla="*/ 17 w 41"/>
                <a:gd name="T5" fmla="*/ 166 h 222"/>
                <a:gd name="T6" fmla="*/ 24 w 41"/>
                <a:gd name="T7" fmla="*/ 184 h 222"/>
                <a:gd name="T8" fmla="*/ 41 w 41"/>
                <a:gd name="T9" fmla="*/ 222 h 222"/>
                <a:gd name="T10" fmla="*/ 38 w 41"/>
                <a:gd name="T11" fmla="*/ 212 h 222"/>
                <a:gd name="T12" fmla="*/ 13 w 41"/>
                <a:gd name="T13" fmla="*/ 92 h 222"/>
                <a:gd name="T14" fmla="*/ 8 w 41"/>
                <a:gd name="T15" fmla="*/ 22 h 222"/>
                <a:gd name="T16" fmla="*/ 7 w 41"/>
                <a:gd name="T17" fmla="*/ 18 h 222"/>
                <a:gd name="T18" fmla="*/ 0 w 41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DBE7F765-E4A5-5281-3CC3-91E36442C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7 w 450"/>
                <a:gd name="T1" fmla="*/ 854 h 878"/>
                <a:gd name="T2" fmla="*/ 50 w 450"/>
                <a:gd name="T3" fmla="*/ 613 h 878"/>
                <a:gd name="T4" fmla="*/ 149 w 450"/>
                <a:gd name="T5" fmla="*/ 388 h 878"/>
                <a:gd name="T6" fmla="*/ 285 w 450"/>
                <a:gd name="T7" fmla="*/ 183 h 878"/>
                <a:gd name="T8" fmla="*/ 364 w 450"/>
                <a:gd name="T9" fmla="*/ 89 h 878"/>
                <a:gd name="T10" fmla="*/ 406 w 450"/>
                <a:gd name="T11" fmla="*/ 44 h 878"/>
                <a:gd name="T12" fmla="*/ 450 w 450"/>
                <a:gd name="T13" fmla="*/ 1 h 878"/>
                <a:gd name="T14" fmla="*/ 450 w 450"/>
                <a:gd name="T15" fmla="*/ 0 h 878"/>
                <a:gd name="T16" fmla="*/ 405 w 450"/>
                <a:gd name="T17" fmla="*/ 43 h 878"/>
                <a:gd name="T18" fmla="*/ 363 w 450"/>
                <a:gd name="T19" fmla="*/ 88 h 878"/>
                <a:gd name="T20" fmla="*/ 283 w 450"/>
                <a:gd name="T21" fmla="*/ 181 h 878"/>
                <a:gd name="T22" fmla="*/ 145 w 450"/>
                <a:gd name="T23" fmla="*/ 386 h 878"/>
                <a:gd name="T24" fmla="*/ 45 w 450"/>
                <a:gd name="T25" fmla="*/ 611 h 878"/>
                <a:gd name="T26" fmla="*/ 0 w 450"/>
                <a:gd name="T27" fmla="*/ 854 h 878"/>
                <a:gd name="T28" fmla="*/ 0 w 450"/>
                <a:gd name="T29" fmla="*/ 859 h 878"/>
                <a:gd name="T30" fmla="*/ 7 w 450"/>
                <a:gd name="T31" fmla="*/ 878 h 878"/>
                <a:gd name="T32" fmla="*/ 7 w 450"/>
                <a:gd name="T33" fmla="*/ 854 h 8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D4FD348F-B28E-B146-B205-26BBACC2A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6 w 35"/>
                <a:gd name="T3" fmla="*/ 73 h 73"/>
                <a:gd name="T4" fmla="*/ 35 w 35"/>
                <a:gd name="T5" fmla="*/ 73 h 73"/>
                <a:gd name="T6" fmla="*/ 0 w 35"/>
                <a:gd name="T7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800DAD8E-D9F7-D140-B7EE-BF858B04A0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7 w 8"/>
                <a:gd name="T1" fmla="*/ 44 h 48"/>
                <a:gd name="T2" fmla="*/ 8 w 8"/>
                <a:gd name="T3" fmla="*/ 48 h 48"/>
                <a:gd name="T4" fmla="*/ 8 w 8"/>
                <a:gd name="T5" fmla="*/ 19 h 48"/>
                <a:gd name="T6" fmla="*/ 1 w 8"/>
                <a:gd name="T7" fmla="*/ 0 h 48"/>
                <a:gd name="T8" fmla="*/ 0 w 8"/>
                <a:gd name="T9" fmla="*/ 26 h 48"/>
                <a:gd name="T10" fmla="*/ 7 w 8"/>
                <a:gd name="T11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A3F0A0AF-1D85-D67C-E0D4-0F426F9D2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7 w 52"/>
                <a:gd name="T1" fmla="*/ 18 h 135"/>
                <a:gd name="T2" fmla="*/ 0 w 52"/>
                <a:gd name="T3" fmla="*/ 0 h 135"/>
                <a:gd name="T4" fmla="*/ 12 w 52"/>
                <a:gd name="T5" fmla="*/ 48 h 135"/>
                <a:gd name="T6" fmla="*/ 16 w 52"/>
                <a:gd name="T7" fmla="*/ 62 h 135"/>
                <a:gd name="T8" fmla="*/ 51 w 52"/>
                <a:gd name="T9" fmla="*/ 135 h 135"/>
                <a:gd name="T10" fmla="*/ 52 w 52"/>
                <a:gd name="T11" fmla="*/ 135 h 135"/>
                <a:gd name="T12" fmla="*/ 24 w 52"/>
                <a:gd name="T13" fmla="*/ 56 h 135"/>
                <a:gd name="T14" fmla="*/ 7 w 52"/>
                <a:gd name="T15" fmla="*/ 18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7" name="Group 9">
            <a:extLst>
              <a:ext uri="{FF2B5EF4-FFF2-40B4-BE49-F238E27FC236}">
                <a16:creationId xmlns:a16="http://schemas.microsoft.com/office/drawing/2014/main" id="{FF3BBEF2-574F-DC11-6948-DC2B21E6AD12}"/>
              </a:ext>
            </a:extLst>
          </p:cNvPr>
          <p:cNvGrpSpPr>
            <a:grpSpLocks/>
          </p:cNvGrpSpPr>
          <p:nvPr/>
        </p:nvGrpSpPr>
        <p:grpSpPr bwMode="auto">
          <a:xfrm>
            <a:off x="26988" y="0"/>
            <a:ext cx="2357437" cy="6853238"/>
            <a:chOff x="6627813" y="194833"/>
            <a:chExt cx="1952625" cy="5678918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AB5C2265-3A9A-6817-E21B-1AB0CB659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>
                <a:gd name="T0" fmla="*/ 7 w 103"/>
                <a:gd name="T1" fmla="*/ 210 h 920"/>
                <a:gd name="T2" fmla="*/ 26 w 103"/>
                <a:gd name="T3" fmla="*/ 445 h 920"/>
                <a:gd name="T4" fmla="*/ 57 w 103"/>
                <a:gd name="T5" fmla="*/ 679 h 920"/>
                <a:gd name="T6" fmla="*/ 101 w 103"/>
                <a:gd name="T7" fmla="*/ 911 h 920"/>
                <a:gd name="T8" fmla="*/ 103 w 103"/>
                <a:gd name="T9" fmla="*/ 920 h 920"/>
                <a:gd name="T10" fmla="*/ 99 w 103"/>
                <a:gd name="T11" fmla="*/ 874 h 920"/>
                <a:gd name="T12" fmla="*/ 99 w 103"/>
                <a:gd name="T13" fmla="*/ 866 h 920"/>
                <a:gd name="T14" fmla="*/ 63 w 103"/>
                <a:gd name="T15" fmla="*/ 678 h 920"/>
                <a:gd name="T16" fmla="*/ 30 w 103"/>
                <a:gd name="T17" fmla="*/ 444 h 920"/>
                <a:gd name="T18" fmla="*/ 9 w 103"/>
                <a:gd name="T19" fmla="*/ 209 h 920"/>
                <a:gd name="T20" fmla="*/ 3 w 103"/>
                <a:gd name="T21" fmla="*/ 92 h 920"/>
                <a:gd name="T22" fmla="*/ 1 w 103"/>
                <a:gd name="T23" fmla="*/ 0 h 920"/>
                <a:gd name="T24" fmla="*/ 0 w 103"/>
                <a:gd name="T25" fmla="*/ 0 h 920"/>
                <a:gd name="T26" fmla="*/ 1 w 103"/>
                <a:gd name="T27" fmla="*/ 92 h 920"/>
                <a:gd name="T28" fmla="*/ 7 w 103"/>
                <a:gd name="T29" fmla="*/ 210 h 9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F84D06AF-7983-B431-4E1D-CB7432A56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53 w 88"/>
                <a:gd name="T1" fmla="*/ 229 h 330"/>
                <a:gd name="T2" fmla="*/ 88 w 88"/>
                <a:gd name="T3" fmla="*/ 330 h 330"/>
                <a:gd name="T4" fmla="*/ 88 w 88"/>
                <a:gd name="T5" fmla="*/ 308 h 330"/>
                <a:gd name="T6" fmla="*/ 88 w 88"/>
                <a:gd name="T7" fmla="*/ 304 h 330"/>
                <a:gd name="T8" fmla="*/ 62 w 88"/>
                <a:gd name="T9" fmla="*/ 226 h 330"/>
                <a:gd name="T10" fmla="*/ 0 w 88"/>
                <a:gd name="T11" fmla="*/ 0 h 330"/>
                <a:gd name="T12" fmla="*/ 7 w 88"/>
                <a:gd name="T13" fmla="*/ 63 h 330"/>
                <a:gd name="T14" fmla="*/ 53 w 88"/>
                <a:gd name="T15" fmla="*/ 229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BC4AA74B-14B4-BE36-B0EB-1C9B5FFBB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6 w 90"/>
                <a:gd name="T1" fmla="*/ 15 h 207"/>
                <a:gd name="T2" fmla="*/ 0 w 90"/>
                <a:gd name="T3" fmla="*/ 0 h 207"/>
                <a:gd name="T4" fmla="*/ 1 w 90"/>
                <a:gd name="T5" fmla="*/ 29 h 207"/>
                <a:gd name="T6" fmla="*/ 42 w 90"/>
                <a:gd name="T7" fmla="*/ 127 h 207"/>
                <a:gd name="T8" fmla="*/ 80 w 90"/>
                <a:gd name="T9" fmla="*/ 207 h 207"/>
                <a:gd name="T10" fmla="*/ 90 w 90"/>
                <a:gd name="T11" fmla="*/ 207 h 207"/>
                <a:gd name="T12" fmla="*/ 50 w 90"/>
                <a:gd name="T13" fmla="*/ 123 h 207"/>
                <a:gd name="T14" fmla="*/ 6 w 90"/>
                <a:gd name="T15" fmla="*/ 15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75E4316F-1F8C-DDBF-024E-776C856DC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101 w 115"/>
                <a:gd name="T1" fmla="*/ 409 h 467"/>
                <a:gd name="T2" fmla="*/ 78 w 115"/>
                <a:gd name="T3" fmla="*/ 344 h 467"/>
                <a:gd name="T4" fmla="*/ 29 w 115"/>
                <a:gd name="T5" fmla="*/ 151 h 467"/>
                <a:gd name="T6" fmla="*/ 13 w 115"/>
                <a:gd name="T7" fmla="*/ 53 h 467"/>
                <a:gd name="T8" fmla="*/ 0 w 115"/>
                <a:gd name="T9" fmla="*/ 0 h 467"/>
                <a:gd name="T10" fmla="*/ 21 w 115"/>
                <a:gd name="T11" fmla="*/ 152 h 467"/>
                <a:gd name="T12" fmla="*/ 69 w 115"/>
                <a:gd name="T13" fmla="*/ 347 h 467"/>
                <a:gd name="T14" fmla="*/ 103 w 115"/>
                <a:gd name="T15" fmla="*/ 441 h 467"/>
                <a:gd name="T16" fmla="*/ 115 w 115"/>
                <a:gd name="T17" fmla="*/ 467 h 467"/>
                <a:gd name="T18" fmla="*/ 112 w 115"/>
                <a:gd name="T19" fmla="*/ 458 h 467"/>
                <a:gd name="T20" fmla="*/ 101 w 115"/>
                <a:gd name="T21" fmla="*/ 409 h 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262F8009-085B-B15E-BDAD-15F0F6D57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17 w 36"/>
                <a:gd name="T1" fmla="*/ 633 h 633"/>
                <a:gd name="T2" fmla="*/ 13 w 36"/>
                <a:gd name="T3" fmla="*/ 597 h 633"/>
                <a:gd name="T4" fmla="*/ 5 w 36"/>
                <a:gd name="T5" fmla="*/ 398 h 633"/>
                <a:gd name="T6" fmla="*/ 13 w 36"/>
                <a:gd name="T7" fmla="*/ 198 h 633"/>
                <a:gd name="T8" fmla="*/ 22 w 36"/>
                <a:gd name="T9" fmla="*/ 99 h 633"/>
                <a:gd name="T10" fmla="*/ 36 w 36"/>
                <a:gd name="T11" fmla="*/ 0 h 633"/>
                <a:gd name="T12" fmla="*/ 35 w 36"/>
                <a:gd name="T13" fmla="*/ 0 h 633"/>
                <a:gd name="T14" fmla="*/ 20 w 36"/>
                <a:gd name="T15" fmla="*/ 99 h 633"/>
                <a:gd name="T16" fmla="*/ 10 w 36"/>
                <a:gd name="T17" fmla="*/ 198 h 633"/>
                <a:gd name="T18" fmla="*/ 1 w 36"/>
                <a:gd name="T19" fmla="*/ 398 h 633"/>
                <a:gd name="T20" fmla="*/ 7 w 36"/>
                <a:gd name="T21" fmla="*/ 589 h 633"/>
                <a:gd name="T22" fmla="*/ 16 w 36"/>
                <a:gd name="T23" fmla="*/ 632 h 633"/>
                <a:gd name="T24" fmla="*/ 17 w 36"/>
                <a:gd name="T25" fmla="*/ 633 h 6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C561D02D-0C65-F59D-07B0-7804B0907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2 w 28"/>
                <a:gd name="T1" fmla="*/ 59 h 59"/>
                <a:gd name="T2" fmla="*/ 28 w 28"/>
                <a:gd name="T3" fmla="*/ 59 h 59"/>
                <a:gd name="T4" fmla="*/ 0 w 28"/>
                <a:gd name="T5" fmla="*/ 0 h 59"/>
                <a:gd name="T6" fmla="*/ 22 w 28"/>
                <a:gd name="T7" fmla="*/ 59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B6681E5B-B55B-C21F-5CCB-6178252C9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4 w 17"/>
                <a:gd name="T1" fmla="*/ 54 h 107"/>
                <a:gd name="T2" fmla="*/ 17 w 17"/>
                <a:gd name="T3" fmla="*/ 107 h 107"/>
                <a:gd name="T4" fmla="*/ 10 w 17"/>
                <a:gd name="T5" fmla="*/ 44 h 107"/>
                <a:gd name="T6" fmla="*/ 9 w 17"/>
                <a:gd name="T7" fmla="*/ 43 h 107"/>
                <a:gd name="T8" fmla="*/ 0 w 17"/>
                <a:gd name="T9" fmla="*/ 0 h 107"/>
                <a:gd name="T10" fmla="*/ 0 w 17"/>
                <a:gd name="T11" fmla="*/ 8 h 107"/>
                <a:gd name="T12" fmla="*/ 4 w 17"/>
                <a:gd name="T13" fmla="*/ 5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40704830-F974-518A-4125-CF0297F51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8 w 294"/>
                <a:gd name="T1" fmla="*/ 553 h 568"/>
                <a:gd name="T2" fmla="*/ 35 w 294"/>
                <a:gd name="T3" fmla="*/ 397 h 568"/>
                <a:gd name="T4" fmla="*/ 99 w 294"/>
                <a:gd name="T5" fmla="*/ 252 h 568"/>
                <a:gd name="T6" fmla="*/ 187 w 294"/>
                <a:gd name="T7" fmla="*/ 119 h 568"/>
                <a:gd name="T8" fmla="*/ 238 w 294"/>
                <a:gd name="T9" fmla="*/ 58 h 568"/>
                <a:gd name="T10" fmla="*/ 265 w 294"/>
                <a:gd name="T11" fmla="*/ 28 h 568"/>
                <a:gd name="T12" fmla="*/ 294 w 294"/>
                <a:gd name="T13" fmla="*/ 0 h 568"/>
                <a:gd name="T14" fmla="*/ 293 w 294"/>
                <a:gd name="T15" fmla="*/ 0 h 568"/>
                <a:gd name="T16" fmla="*/ 264 w 294"/>
                <a:gd name="T17" fmla="*/ 27 h 568"/>
                <a:gd name="T18" fmla="*/ 237 w 294"/>
                <a:gd name="T19" fmla="*/ 56 h 568"/>
                <a:gd name="T20" fmla="*/ 185 w 294"/>
                <a:gd name="T21" fmla="*/ 117 h 568"/>
                <a:gd name="T22" fmla="*/ 95 w 294"/>
                <a:gd name="T23" fmla="*/ 249 h 568"/>
                <a:gd name="T24" fmla="*/ 30 w 294"/>
                <a:gd name="T25" fmla="*/ 396 h 568"/>
                <a:gd name="T26" fmla="*/ 0 w 294"/>
                <a:gd name="T27" fmla="*/ 549 h 568"/>
                <a:gd name="T28" fmla="*/ 7 w 294"/>
                <a:gd name="T29" fmla="*/ 568 h 568"/>
                <a:gd name="T30" fmla="*/ 8 w 294"/>
                <a:gd name="T31" fmla="*/ 553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23F8F4F7-78CB-4593-8187-E069276AE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19 w 25"/>
                <a:gd name="T3" fmla="*/ 53 h 53"/>
                <a:gd name="T4" fmla="*/ 25 w 25"/>
                <a:gd name="T5" fmla="*/ 53 h 53"/>
                <a:gd name="T6" fmla="*/ 0 w 25"/>
                <a:gd name="T7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A126D334-1E0E-2A22-263E-A57EC6763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7 w 29"/>
                <a:gd name="T3" fmla="*/ 89 h 141"/>
                <a:gd name="T4" fmla="*/ 18 w 29"/>
                <a:gd name="T5" fmla="*/ 117 h 141"/>
                <a:gd name="T6" fmla="*/ 29 w 29"/>
                <a:gd name="T7" fmla="*/ 141 h 141"/>
                <a:gd name="T8" fmla="*/ 27 w 29"/>
                <a:gd name="T9" fmla="*/ 135 h 141"/>
                <a:gd name="T10" fmla="*/ 8 w 29"/>
                <a:gd name="T11" fmla="*/ 22 h 141"/>
                <a:gd name="T12" fmla="*/ 4 w 29"/>
                <a:gd name="T13" fmla="*/ 11 h 141"/>
                <a:gd name="T14" fmla="*/ 0 w 29"/>
                <a:gd name="T15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FE40DE4C-7F59-92D0-B385-7ABDE97B0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6 h 48"/>
                <a:gd name="T2" fmla="*/ 4 w 8"/>
                <a:gd name="T3" fmla="*/ 37 h 48"/>
                <a:gd name="T4" fmla="*/ 8 w 8"/>
                <a:gd name="T5" fmla="*/ 48 h 48"/>
                <a:gd name="T6" fmla="*/ 7 w 8"/>
                <a:gd name="T7" fmla="*/ 19 h 48"/>
                <a:gd name="T8" fmla="*/ 0 w 8"/>
                <a:gd name="T9" fmla="*/ 0 h 48"/>
                <a:gd name="T10" fmla="*/ 0 w 8"/>
                <a:gd name="T11" fmla="*/ 4 h 48"/>
                <a:gd name="T12" fmla="*/ 0 w 8"/>
                <a:gd name="T13" fmla="*/ 2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5F121012-0A67-606D-0EAA-F570253B7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11 w 44"/>
                <a:gd name="T1" fmla="*/ 28 h 111"/>
                <a:gd name="T2" fmla="*/ 0 w 44"/>
                <a:gd name="T3" fmla="*/ 0 h 111"/>
                <a:gd name="T4" fmla="*/ 11 w 44"/>
                <a:gd name="T5" fmla="*/ 49 h 111"/>
                <a:gd name="T6" fmla="*/ 14 w 44"/>
                <a:gd name="T7" fmla="*/ 58 h 111"/>
                <a:gd name="T8" fmla="*/ 39 w 44"/>
                <a:gd name="T9" fmla="*/ 111 h 111"/>
                <a:gd name="T10" fmla="*/ 44 w 44"/>
                <a:gd name="T11" fmla="*/ 111 h 111"/>
                <a:gd name="T12" fmla="*/ 22 w 44"/>
                <a:gd name="T13" fmla="*/ 52 h 111"/>
                <a:gd name="T14" fmla="*/ 11 w 44"/>
                <a:gd name="T15" fmla="*/ 28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0C834D1-39E3-6C7A-DB15-949210187EFD}"/>
              </a:ext>
            </a:extLst>
          </p:cNvPr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69C60FBF-9670-6D62-0D5F-EB4AA9B2E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92388" y="623888"/>
            <a:ext cx="8912225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6BD0FA98-9AAB-6CDC-7C82-79BAFDD68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89213" y="2133600"/>
            <a:ext cx="8915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D8B97-4896-167D-9864-5ABE2D1F56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361613" y="6130925"/>
            <a:ext cx="1146175" cy="369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23E47BE-2BE6-41E3-8FA9-9897BCE139CB}" type="datetimeFigureOut">
              <a:rPr lang="en-US"/>
              <a:pPr>
                <a:defRPr/>
              </a:pPr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73F59-B440-4C43-B597-5BA5D42D87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89213" y="6135688"/>
            <a:ext cx="762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DAADB-25A8-087A-9BB2-E003163CE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1813" y="787400"/>
            <a:ext cx="7794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2000" smtClean="0">
                <a:solidFill>
                  <a:srgbClr val="FEFFFF"/>
                </a:solidFill>
                <a:latin typeface="+mn-lt"/>
              </a:defRPr>
            </a:lvl1pPr>
          </a:lstStyle>
          <a:p>
            <a:pPr>
              <a:defRPr/>
            </a:pPr>
            <a:fld id="{57559B16-97C8-4393-A87C-CC96A522D0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</p:sldLayoutIdLst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>
          <a:solidFill>
            <a:srgbClr val="262626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rgbClr val="262626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fontAlgn="base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A999BC-8C35-2EF9-AF8A-98E64C455C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9213" y="4776788"/>
            <a:ext cx="8915400" cy="11271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dirty="0" err="1"/>
              <a:t>Funtions</a:t>
            </a:r>
            <a:r>
              <a:rPr lang="en-US" dirty="0"/>
              <a:t> , Characteristics , Importance , Levels of management ,</a:t>
            </a:r>
          </a:p>
        </p:txBody>
      </p:sp>
      <p:pic>
        <p:nvPicPr>
          <p:cNvPr id="5" name="Picture 4" descr="&quot;&quot;">
            <a:extLst>
              <a:ext uri="{FF2B5EF4-FFF2-40B4-BE49-F238E27FC236}">
                <a16:creationId xmlns:a16="http://schemas.microsoft.com/office/drawing/2014/main" id="{AD3CF62F-309D-0AAA-12AF-04849BE7CF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19" t="27768" r="18964" b="34237"/>
          <a:stretch>
            <a:fillRect/>
          </a:stretch>
        </p:blipFill>
        <p:spPr>
          <a:xfrm>
            <a:off x="1051559" y="1809550"/>
            <a:ext cx="10720138" cy="2504477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7F3BF2D5-33DE-3A75-8885-9E66C2786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3950" y="1906588"/>
            <a:ext cx="11215688" cy="5033962"/>
          </a:xfrm>
        </p:spPr>
        <p:txBody>
          <a:bodyPr rtlCol="0">
            <a:normAutofit/>
          </a:bodyPr>
          <a:lstStyle/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Management  = Manage + Men + Tactfully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(To get the work done)</a:t>
            </a: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ptos Display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      Traditional Authors :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An art of getting things done.</a:t>
            </a: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ptos Display" panose="020B0004020202020204" pitchFamily="34" charset="0"/>
            </a:endParaRP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rial Rounded MT Bold" panose="020F0704030504030204" pitchFamily="34" charset="0"/>
              </a:rPr>
              <a:t>       Modern Authors :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A process of accomplishing certain</a:t>
            </a: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                                certain objectives through the utilization of human and </a:t>
            </a: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                                       other resources.</a:t>
            </a:r>
          </a:p>
          <a:p>
            <a:pPr marL="0" indent="0" fontAlgn="auto">
              <a:spcAft>
                <a:spcPts val="0"/>
              </a:spcAft>
              <a:buFont typeface="Wingdings 3" charset="2"/>
              <a:buNone/>
              <a:defRPr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Aptos Display" panose="020B0004020202020204" pitchFamily="34" charset="0"/>
              </a:rPr>
              <a:t>                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9459" name="TextBox 15">
            <a:extLst>
              <a:ext uri="{FF2B5EF4-FFF2-40B4-BE49-F238E27FC236}">
                <a16:creationId xmlns:a16="http://schemas.microsoft.com/office/drawing/2014/main" id="{68750226-A19C-9D95-81F5-B16D59AF6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9900" y="592138"/>
            <a:ext cx="95853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4000">
                <a:latin typeface="Arial Black" panose="020B0A04020102020204" pitchFamily="34" charset="0"/>
              </a:rPr>
              <a:t>What Is Management 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7">
            <a:extLst>
              <a:ext uri="{FF2B5EF4-FFF2-40B4-BE49-F238E27FC236}">
                <a16:creationId xmlns:a16="http://schemas.microsoft.com/office/drawing/2014/main" id="{952A5024-B342-C7C6-BD68-11F10E2DD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9275" y="1262063"/>
            <a:ext cx="9715500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Management is the process of planning, organizing,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leading, and controlling resources—particularly human resources—to achieve organizational goals efficiently and effectively.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2BB744-A02A-A3E3-606E-99B56C45AC74}"/>
              </a:ext>
            </a:extLst>
          </p:cNvPr>
          <p:cNvSpPr txBox="1"/>
          <p:nvPr/>
        </p:nvSpPr>
        <p:spPr>
          <a:xfrm>
            <a:off x="2170113" y="3844925"/>
            <a:ext cx="9399587" cy="21240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Arial Rounded MT Bold" panose="020F0704030504030204" pitchFamily="34" charset="0"/>
              </a:rPr>
              <a:t>Effectively 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Effectively is refers to completion of task on time.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dirty="0">
                <a:latin typeface="Arial Rounded MT Bold" panose="020F0704030504030204" pitchFamily="34" charset="0"/>
              </a:rPr>
              <a:t> </a:t>
            </a:r>
          </a:p>
          <a:p>
            <a:pPr marL="457200" indent="-45720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Arial Rounded MT Bold" panose="020F0704030504030204" pitchFamily="34" charset="0"/>
              </a:rPr>
              <a:t>Efficiently  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Efficiency means to optimum utilization pf resources class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resources and getting maximum output.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8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1">
            <a:extLst>
              <a:ext uri="{FF2B5EF4-FFF2-40B4-BE49-F238E27FC236}">
                <a16:creationId xmlns:a16="http://schemas.microsoft.com/office/drawing/2014/main" id="{4C23B31A-E5ED-8113-62A3-0C36D5F96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606425"/>
            <a:ext cx="4186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/>
            <a:r>
              <a:rPr lang="en-US" altLang="en-US" sz="4000">
                <a:latin typeface="Arial Black" panose="020B0A04020102020204" pitchFamily="34" charset="0"/>
              </a:rPr>
              <a:t>Definitions 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0F4E1-5778-17A1-EEDD-3DD101AE05D2}"/>
              </a:ext>
            </a:extLst>
          </p:cNvPr>
          <p:cNvSpPr txBox="1"/>
          <p:nvPr/>
        </p:nvSpPr>
        <p:spPr>
          <a:xfrm>
            <a:off x="1222375" y="1314450"/>
            <a:ext cx="10675938" cy="1061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n-lt"/>
              </a:rPr>
              <a:t>“Management is the art of getting things done through and with people in formally organized groups “.                                                                               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           </a:t>
            </a:r>
            <a:r>
              <a:rPr lang="en-US" dirty="0">
                <a:latin typeface="Arial Black" panose="020B0A04020102020204" pitchFamily="34" charset="0"/>
              </a:rPr>
              <a:t>----Koontz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 Black" panose="020B0A04020102020204" pitchFamily="34" charset="0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n-lt"/>
              </a:rPr>
              <a:t>“Management   is the art of getting things done through and with people”.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  </a:t>
            </a:r>
            <a:r>
              <a:rPr lang="en-US" dirty="0">
                <a:latin typeface="Arial Black" panose="020B0A04020102020204" pitchFamily="34" charset="0"/>
              </a:rPr>
              <a:t>----Mary Parker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n-lt"/>
              </a:rPr>
              <a:t>“Management is the art of knowing what you want to do and then seeing that it 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done in the best and cheapest way ”.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      </a:t>
            </a:r>
            <a:r>
              <a:rPr lang="en-US" dirty="0">
                <a:latin typeface="Arial Black" panose="020B0A04020102020204" pitchFamily="34" charset="0"/>
              </a:rPr>
              <a:t>----F.W Taylor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n-lt"/>
              </a:rPr>
              <a:t>“Management is the accomplishment of results through the efforts of other people”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      </a:t>
            </a:r>
            <a:r>
              <a:rPr lang="en-US" dirty="0">
                <a:latin typeface="Arial Black" panose="020B0A04020102020204" pitchFamily="34" charset="0"/>
              </a:rPr>
              <a:t>----Lawrence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Arial Black" panose="020B0A04020102020204" pitchFamily="34" charset="0"/>
              </a:rPr>
              <a:t>  </a:t>
            </a: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+mn-lt"/>
              </a:rPr>
              <a:t>“Management is to manage is to forecast and plan , to organize , to command, to                  coordinate and control”.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</a:t>
            </a:r>
            <a:r>
              <a:rPr lang="en-US" dirty="0">
                <a:latin typeface="Arial Black" panose="020B0A04020102020204" pitchFamily="34" charset="0"/>
              </a:rPr>
              <a:t>  ----Henry Fayol</a:t>
            </a: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st of 5 - Functions of Management ...">
            <a:extLst>
              <a:ext uri="{FF2B5EF4-FFF2-40B4-BE49-F238E27FC236}">
                <a16:creationId xmlns:a16="http://schemas.microsoft.com/office/drawing/2014/main" id="{4DA6E0DE-7F02-D02D-8727-E7691FCC2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5" y="1663547"/>
            <a:ext cx="9485523" cy="505674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glow rad="139700">
              <a:schemeClr val="accent5">
                <a:satMod val="175000"/>
                <a:alpha val="40000"/>
              </a:schemeClr>
            </a:glow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28477F-8BDE-4369-ED63-6B229DD21904}"/>
              </a:ext>
            </a:extLst>
          </p:cNvPr>
          <p:cNvSpPr/>
          <p:nvPr/>
        </p:nvSpPr>
        <p:spPr>
          <a:xfrm>
            <a:off x="1038844" y="455488"/>
            <a:ext cx="1011431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Functions of management</a:t>
            </a:r>
            <a:endParaRPr lang="en-GB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23785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A8EAB9-1E49-4BCC-5342-7340643D2F51}"/>
              </a:ext>
            </a:extLst>
          </p:cNvPr>
          <p:cNvSpPr/>
          <p:nvPr/>
        </p:nvSpPr>
        <p:spPr>
          <a:xfrm>
            <a:off x="1465572" y="462708"/>
            <a:ext cx="9738581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GB" sz="5400" b="1" cap="none" spc="0" dirty="0">
                <a:ln/>
                <a:solidFill>
                  <a:schemeClr val="accent3"/>
                </a:solidFill>
                <a:effectLst/>
              </a:rPr>
              <a:t>Nature and characteristics: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4EB6A-F840-8E65-BD5C-25A03F0DD268}"/>
              </a:ext>
            </a:extLst>
          </p:cNvPr>
          <p:cNvSpPr txBox="1"/>
          <p:nvPr/>
        </p:nvSpPr>
        <p:spPr>
          <a:xfrm>
            <a:off x="2500829" y="1134737"/>
            <a:ext cx="9099932" cy="6273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is  Goal Oriented.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is a Continuous process.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is  Multi- dimensional.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is an Intangible force.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is a part of Group Effect.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 balances  Effectiveness and Efficiency 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is  Dynamic Discipline.</a:t>
            </a:r>
          </a:p>
          <a:p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It is a Science as well as an Art.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  <p:pic>
        <p:nvPicPr>
          <p:cNvPr id="2050" name="Picture 2" descr="Management Stock Photos, Images and ...">
            <a:extLst>
              <a:ext uri="{FF2B5EF4-FFF2-40B4-BE49-F238E27FC236}">
                <a16:creationId xmlns:a16="http://schemas.microsoft.com/office/drawing/2014/main" id="{D67C7E92-D144-0D64-F7B5-3C8B00C5C4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39" t="6818" r="22770" b="-6818"/>
          <a:stretch>
            <a:fillRect/>
          </a:stretch>
        </p:blipFill>
        <p:spPr bwMode="auto">
          <a:xfrm>
            <a:off x="7833409" y="1677985"/>
            <a:ext cx="4358591" cy="471730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379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8E0618-771D-23E6-CB53-7C5D0D4B48CC}"/>
              </a:ext>
            </a:extLst>
          </p:cNvPr>
          <p:cNvSpPr/>
          <p:nvPr/>
        </p:nvSpPr>
        <p:spPr>
          <a:xfrm rot="10800000" flipV="1">
            <a:off x="1608462" y="524345"/>
            <a:ext cx="992619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Importance of Management</a:t>
            </a:r>
            <a:endParaRPr lang="en-GB" sz="5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B1FEA-C9E8-E81C-6507-BE829FE57086}"/>
              </a:ext>
            </a:extLst>
          </p:cNvPr>
          <p:cNvSpPr txBox="1"/>
          <p:nvPr/>
        </p:nvSpPr>
        <p:spPr>
          <a:xfrm>
            <a:off x="2148289" y="1687622"/>
            <a:ext cx="759062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It helps in Achieving Group Goals.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Effective Utilization of Resources.                            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Reduces Costs.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Establishes Sound Organization.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Helping the employees in achieving personal </a:t>
            </a:r>
          </a:p>
          <a:p>
            <a:r>
              <a:rPr lang="en-US" sz="2400" dirty="0"/>
              <a:t>       objectives.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dirty="0"/>
              <a:t>Development of Society and Nation. </a:t>
            </a:r>
          </a:p>
          <a:p>
            <a:endParaRPr lang="en-US" sz="2400" dirty="0"/>
          </a:p>
        </p:txBody>
      </p:sp>
      <p:sp>
        <p:nvSpPr>
          <p:cNvPr id="4" name="AutoShape 2" descr="What is Management? Definition, Importance, Types, Roles and  Responsibilities">
            <a:extLst>
              <a:ext uri="{FF2B5EF4-FFF2-40B4-BE49-F238E27FC236}">
                <a16:creationId xmlns:a16="http://schemas.microsoft.com/office/drawing/2014/main" id="{75336827-8545-BCD4-FB42-94FA030014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53778" y="29791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What is Management? Definition, Importance, Types, Roles and  Responsibilities">
            <a:extLst>
              <a:ext uri="{FF2B5EF4-FFF2-40B4-BE49-F238E27FC236}">
                <a16:creationId xmlns:a16="http://schemas.microsoft.com/office/drawing/2014/main" id="{B11719C7-31D1-9D44-E5E8-42BD80767E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8" name="Picture 6" descr="Importance of Management in Hindi">
            <a:extLst>
              <a:ext uri="{FF2B5EF4-FFF2-40B4-BE49-F238E27FC236}">
                <a16:creationId xmlns:a16="http://schemas.microsoft.com/office/drawing/2014/main" id="{F7A9ABA9-E897-CA28-B5F5-18B78670ED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787"/>
          <a:stretch>
            <a:fillRect/>
          </a:stretch>
        </p:blipFill>
        <p:spPr bwMode="auto">
          <a:xfrm>
            <a:off x="9084505" y="1667746"/>
            <a:ext cx="3107495" cy="491352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5344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55D51A7-DB55-CD2E-693E-3D5061795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3552" y="1397054"/>
            <a:ext cx="6962660" cy="3725788"/>
          </a:xfrm>
        </p:spPr>
        <p:txBody>
          <a:bodyPr/>
          <a:lstStyle/>
          <a:p>
            <a:r>
              <a:rPr lang="en-US" altLang="en-US" sz="2800" dirty="0"/>
              <a:t>Planning is the process of setting goals , defining actions to achieve those goals, and organizing the resources and efforts needed to carry out those actions.</a:t>
            </a:r>
            <a:br>
              <a:rPr lang="en-US" altLang="en-US" sz="2800" dirty="0"/>
            </a:br>
            <a:r>
              <a:rPr lang="en-US" altLang="en-US" sz="2800" dirty="0"/>
              <a:t>           “Planning is deciding in advance What to do , How to do , when to do it , what to do it ,whose to do it”.</a:t>
            </a:r>
            <a:br>
              <a:rPr lang="en-US" altLang="en-US" sz="2800" dirty="0"/>
            </a:br>
            <a:r>
              <a:rPr lang="en-US" altLang="en-US"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Key points:</a:t>
            </a:r>
            <a:br>
              <a:rPr lang="en-US" altLang="en-US" sz="2800" b="1" i="1" u="sng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Forecasting ,Budgeting , Formation policy and program ,</a:t>
            </a:r>
            <a:b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Thinking in advance.</a:t>
            </a:r>
            <a:br>
              <a:rPr lang="en-US" altLang="en-US" sz="2000" dirty="0">
                <a:latin typeface="Arial Black" panose="020B0A04020102020204" pitchFamily="34" charset="0"/>
              </a:rPr>
            </a:b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800" dirty="0"/>
              <a:t> </a:t>
            </a:r>
            <a:br>
              <a:rPr lang="en-US" altLang="en-US" sz="2800" dirty="0"/>
            </a:br>
            <a:endParaRPr lang="en-US" altLang="en-US" sz="2800" dirty="0"/>
          </a:p>
        </p:txBody>
      </p:sp>
      <p:pic>
        <p:nvPicPr>
          <p:cNvPr id="1026" name="Picture 2" descr="2,799,500+ It Management Stock Photos, Pictures &amp; Royalty-Free Images -  iStock | It management services, Health it management, Cloud it management">
            <a:extLst>
              <a:ext uri="{FF2B5EF4-FFF2-40B4-BE49-F238E27FC236}">
                <a16:creationId xmlns:a16="http://schemas.microsoft.com/office/drawing/2014/main" id="{C96CFF76-50E9-7895-737C-F04E67D4C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8853" t="-1657" r="-8168" b="1811"/>
          <a:stretch>
            <a:fillRect/>
          </a:stretch>
        </p:blipFill>
        <p:spPr bwMode="auto">
          <a:xfrm>
            <a:off x="5559445" y="347448"/>
            <a:ext cx="9155417" cy="6163103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  <a:softEdge rad="317500"/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CF1AB74-972C-F699-7341-1462DF98D62F}"/>
              </a:ext>
            </a:extLst>
          </p:cNvPr>
          <p:cNvSpPr/>
          <p:nvPr/>
        </p:nvSpPr>
        <p:spPr>
          <a:xfrm>
            <a:off x="1322024" y="-176274"/>
            <a:ext cx="42374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lang="en-GB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C9E006-165D-F36B-85AC-96FFABDB94CB}"/>
              </a:ext>
            </a:extLst>
          </p:cNvPr>
          <p:cNvSpPr/>
          <p:nvPr/>
        </p:nvSpPr>
        <p:spPr>
          <a:xfrm>
            <a:off x="1795749" y="473724"/>
            <a:ext cx="388895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Planning : </a:t>
            </a:r>
            <a:endParaRPr lang="en-GB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61127-22FA-A9BC-C16C-122660DE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BE13A0-92E2-CEF0-76A2-D658A09E9C20}"/>
              </a:ext>
            </a:extLst>
          </p:cNvPr>
          <p:cNvSpPr/>
          <p:nvPr/>
        </p:nvSpPr>
        <p:spPr>
          <a:xfrm flipH="1">
            <a:off x="947450" y="495759"/>
            <a:ext cx="679740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Organizing :</a:t>
            </a:r>
            <a:endParaRPr lang="en-GB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AE428A-C3FA-6B31-AD7D-30FF11B6E6C6}"/>
              </a:ext>
            </a:extLst>
          </p:cNvPr>
          <p:cNvSpPr txBox="1"/>
          <p:nvPr/>
        </p:nvSpPr>
        <p:spPr>
          <a:xfrm>
            <a:off x="2091367" y="1696596"/>
            <a:ext cx="800926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Organizing is arranging resources (human , financial , physical , informational) in a structured way to achieve planned objectives.</a:t>
            </a:r>
          </a:p>
          <a:p>
            <a:r>
              <a:rPr lang="en-US" sz="2400" dirty="0"/>
              <a:t>             The purpose of organizing is to ensures that tasks are divided , resources  are allocated and relationships are established.</a:t>
            </a:r>
          </a:p>
          <a:p>
            <a:endParaRPr lang="en-US" sz="2400" dirty="0"/>
          </a:p>
          <a:p>
            <a:r>
              <a:rPr lang="en-US" sz="3200" b="1" i="1" u="sng" dirty="0">
                <a:latin typeface="Arial" panose="020B0604020202020204" pitchFamily="34" charset="0"/>
                <a:cs typeface="Arial" panose="020B0604020202020204" pitchFamily="34" charset="0"/>
              </a:rPr>
              <a:t>Key Points 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and grouping of activities.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Assign duties.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Development of authority and responsibility </a:t>
            </a:r>
          </a:p>
        </p:txBody>
      </p:sp>
    </p:spTree>
    <p:extLst>
      <p:ext uri="{BB962C8B-B14F-4D97-AF65-F5344CB8AC3E}">
        <p14:creationId xmlns:p14="http://schemas.microsoft.com/office/powerpoint/2010/main" val="268468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45C0F4-4B0E-635C-B190-0048C530E53C}"/>
              </a:ext>
            </a:extLst>
          </p:cNvPr>
          <p:cNvSpPr/>
          <p:nvPr/>
        </p:nvSpPr>
        <p:spPr>
          <a:xfrm flipH="1">
            <a:off x="2423711" y="925417"/>
            <a:ext cx="511182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lang="en-GB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920046-2F56-55BC-C1BB-72D4B60F1177}"/>
              </a:ext>
            </a:extLst>
          </p:cNvPr>
          <p:cNvSpPr/>
          <p:nvPr/>
        </p:nvSpPr>
        <p:spPr>
          <a:xfrm>
            <a:off x="1454227" y="517793"/>
            <a:ext cx="30626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Staffing :</a:t>
            </a:r>
            <a:endParaRPr lang="en-GB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39A2AB-5CEA-9FC9-D3FF-29718CB7F91F}"/>
              </a:ext>
            </a:extLst>
          </p:cNvPr>
          <p:cNvSpPr txBox="1"/>
          <p:nvPr/>
        </p:nvSpPr>
        <p:spPr>
          <a:xfrm>
            <a:off x="934598" y="2366540"/>
            <a:ext cx="1032280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Staffing is recruiting , selecting, training and developing employees to fill roles and ensure effective workforce performance.</a:t>
            </a:r>
          </a:p>
          <a:p>
            <a:r>
              <a:rPr lang="en-US" sz="2000" dirty="0"/>
              <a:t>         The purpose of staffing is to have the right people in this right position.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3200" b="1" i="1" u="sng" dirty="0"/>
              <a:t>Key Points:</a:t>
            </a:r>
          </a:p>
          <a:p>
            <a:endParaRPr lang="en-US" sz="2800" b="1" i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HR planning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Recruitment and selection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Training and development.</a:t>
            </a:r>
          </a:p>
          <a:p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505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BADB7E-7832-0378-7B45-B90895E04375}"/>
              </a:ext>
            </a:extLst>
          </p:cNvPr>
          <p:cNvSpPr/>
          <p:nvPr/>
        </p:nvSpPr>
        <p:spPr>
          <a:xfrm>
            <a:off x="1443210" y="473724"/>
            <a:ext cx="46527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Directing :</a:t>
            </a:r>
            <a:endParaRPr lang="en-GB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DB72D8-C5C1-B99C-E484-DF983D1E5048}"/>
              </a:ext>
            </a:extLst>
          </p:cNvPr>
          <p:cNvSpPr txBox="1"/>
          <p:nvPr/>
        </p:nvSpPr>
        <p:spPr>
          <a:xfrm>
            <a:off x="1443210" y="1762699"/>
            <a:ext cx="1006941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Directing is guiding and motivating employees to perform tasks effectively towards achieving organizational goals.</a:t>
            </a:r>
          </a:p>
          <a:p>
            <a:r>
              <a:rPr lang="en-US" sz="2400" dirty="0"/>
              <a:t>       The purpose of directing is to ensure that the workforce is motivated and properly guided to execute plans.</a:t>
            </a:r>
          </a:p>
          <a:p>
            <a:endParaRPr lang="en-US" sz="2400" dirty="0"/>
          </a:p>
          <a:p>
            <a:r>
              <a:rPr lang="en-US" sz="3200" b="1" i="1" u="sng" dirty="0"/>
              <a:t>Key points :</a:t>
            </a:r>
          </a:p>
          <a:p>
            <a:endParaRPr lang="en-US" sz="3200" b="1" i="1" u="sng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Leadership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Communication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Motivation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Supervision.</a:t>
            </a:r>
          </a:p>
          <a:p>
            <a:endParaRPr lang="en-US" sz="3200" b="1" i="1" u="sng" dirty="0"/>
          </a:p>
        </p:txBody>
      </p:sp>
    </p:spTree>
    <p:extLst>
      <p:ext uri="{BB962C8B-B14F-4D97-AF65-F5344CB8AC3E}">
        <p14:creationId xmlns:p14="http://schemas.microsoft.com/office/powerpoint/2010/main" val="724643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53A4B0-235D-3F86-40B4-37ABDA5E97DA}"/>
              </a:ext>
            </a:extLst>
          </p:cNvPr>
          <p:cNvSpPr/>
          <p:nvPr/>
        </p:nvSpPr>
        <p:spPr>
          <a:xfrm>
            <a:off x="980501" y="484741"/>
            <a:ext cx="605927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Controlling :</a:t>
            </a:r>
            <a:endParaRPr lang="en-GB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598CB-CE47-3E9E-1EA8-12E9549B1D42}"/>
              </a:ext>
            </a:extLst>
          </p:cNvPr>
          <p:cNvSpPr txBox="1"/>
          <p:nvPr/>
        </p:nvSpPr>
        <p:spPr>
          <a:xfrm>
            <a:off x="1850835" y="1751682"/>
            <a:ext cx="934230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Controlling is monitoring performance, comparing actual result with planned result and goals and taking corrective actions if necessary.</a:t>
            </a:r>
          </a:p>
          <a:p>
            <a:r>
              <a:rPr lang="en-US" sz="2400" dirty="0"/>
              <a:t>      The purpose of directing is to ensure that organizational activities are on track.</a:t>
            </a:r>
          </a:p>
          <a:p>
            <a:endParaRPr lang="en-US" sz="2400" dirty="0"/>
          </a:p>
          <a:p>
            <a:r>
              <a:rPr lang="en-US" sz="3200" b="1" i="1" u="sng" dirty="0"/>
              <a:t>Key Points :</a:t>
            </a:r>
          </a:p>
          <a:p>
            <a:endParaRPr lang="en-US" sz="3200" b="1" i="1" u="sng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Measuring performance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/>
              <a:t>Compare with standard.</a:t>
            </a:r>
          </a:p>
        </p:txBody>
      </p:sp>
    </p:spTree>
    <p:extLst>
      <p:ext uri="{BB962C8B-B14F-4D97-AF65-F5344CB8AC3E}">
        <p14:creationId xmlns:p14="http://schemas.microsoft.com/office/powerpoint/2010/main" val="919219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3 Levels of Management Explained - Shiksha Online">
            <a:extLst>
              <a:ext uri="{FF2B5EF4-FFF2-40B4-BE49-F238E27FC236}">
                <a16:creationId xmlns:a16="http://schemas.microsoft.com/office/drawing/2014/main" id="{B62661E0-74BF-2EA3-0E56-5AF9D7D30A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7" t="10316" r="10096" b="11473"/>
          <a:stretch>
            <a:fillRect/>
          </a:stretch>
        </p:blipFill>
        <p:spPr bwMode="auto">
          <a:xfrm>
            <a:off x="1457897" y="1410159"/>
            <a:ext cx="9801341" cy="47592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10480DE-EE2F-87B1-AACE-ABEFF94762A0}"/>
              </a:ext>
            </a:extLst>
          </p:cNvPr>
          <p:cNvSpPr/>
          <p:nvPr/>
        </p:nvSpPr>
        <p:spPr>
          <a:xfrm>
            <a:off x="2622014" y="352540"/>
            <a:ext cx="1048805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GB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Levels of Management</a:t>
            </a:r>
            <a:endParaRPr lang="en-GB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98340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772EE0-F6D5-3F10-F055-82A915D7C631}"/>
              </a:ext>
            </a:extLst>
          </p:cNvPr>
          <p:cNvSpPr txBox="1"/>
          <p:nvPr/>
        </p:nvSpPr>
        <p:spPr>
          <a:xfrm>
            <a:off x="1883884" y="363557"/>
            <a:ext cx="7293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Level Management</a:t>
            </a:r>
          </a:p>
        </p:txBody>
      </p:sp>
    </p:spTree>
    <p:extLst>
      <p:ext uri="{BB962C8B-B14F-4D97-AF65-F5344CB8AC3E}">
        <p14:creationId xmlns:p14="http://schemas.microsoft.com/office/powerpoint/2010/main" val="116580700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279</TotalTime>
  <Words>632</Words>
  <Application>Microsoft Office PowerPoint</Application>
  <PresentationFormat>Widescreen</PresentationFormat>
  <Paragraphs>128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 Display</vt:lpstr>
      <vt:lpstr>Arial</vt:lpstr>
      <vt:lpstr>Arial Black</vt:lpstr>
      <vt:lpstr>Arial Rounded MT Bold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Planning is the process of setting goals , defining actions to achieve those goals, and organizing the resources and efforts needed to carry out those actions.            “Planning is deciding in advance What to do , How to do , when to do it , what to do it ,whose to do it”. Key points: Forecasting ,Budgeting , Formation policy and program , Thinking in advance.     </vt:lpstr>
      <vt:lpstr>  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Tanu Rana</dc:creator>
  <cp:lastModifiedBy>Tanu Rana</cp:lastModifiedBy>
  <cp:revision>2</cp:revision>
  <dcterms:created xsi:type="dcterms:W3CDTF">2025-10-06T12:53:41Z</dcterms:created>
  <dcterms:modified xsi:type="dcterms:W3CDTF">2025-10-06T18:21:16Z</dcterms:modified>
</cp:coreProperties>
</file>